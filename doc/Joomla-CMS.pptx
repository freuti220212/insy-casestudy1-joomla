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>
        <p:scale>
          <a:sx n="62" d="100"/>
          <a:sy n="62" d="100"/>
        </p:scale>
        <p:origin x="2220" y="1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79BBC-010F-5E5E-F9B3-981BA53F4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74C0AC-EC23-8BA9-6DCA-89C52520B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A6B817-DD83-B75C-6CF1-B420D6C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2BA321-6614-7851-B40E-D4B25CB4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1583C-0851-2FDD-869B-556525F5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7995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5AB0E5-F0FD-EEE6-B114-7C165340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668E34-9014-3E67-EBC5-38D3FBEF1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458BB9-4E08-3889-5CE9-F214E22A0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02B49D-E4B5-3368-2596-748B4CBC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574944-4AAF-5F50-0B27-7FDF5B14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9011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8E5B68-9DF8-DEF5-CA6A-C6840AC30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728C77-B42B-E3A6-7BF2-D7EB21D75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8F2A5C-E1F5-86BC-C6EF-2A37B802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35D645-44CB-6DC6-0BF9-CD077C21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EDE94B-568E-00B3-36C9-8EE77E96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96383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40D66-9623-2FBE-1736-6444E854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80E367-B05C-669B-63B9-552AC4226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487A8E-D9A7-2FBA-4581-8F2FDCCFA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C8956D-B5A7-9D4F-488E-A779B0BFA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97E659-53AB-77AF-1DEB-7CACAF4B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8E10CC-22CF-935E-90AF-C08D1819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198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6F313-A9E1-0C1F-594D-EA9A378EE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3562ED-5D7D-4D61-D56B-331B0640B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ED3F5F-C655-7654-82E5-A8ACF8E8A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CAF1C8E-FDEB-2E16-C166-5F646F48E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36FD76-A1E5-F434-578A-6817937B0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20EE5CD-E0C7-9979-A94E-2A94E630E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2BC43DB-0610-5260-EC3F-3294209C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D852721-4A0F-B46E-88E2-FDE769A5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4498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89136A-9F05-D677-2522-7F123EAD8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306C1C-65D1-3E42-ACE1-F7BA814F6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6719A8-43B3-F2CC-F378-CF875635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29C00A-9397-D8C1-9F18-E6CCB6DA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4601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D69B5C-01F9-0EDA-D01F-17D374065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C974CA3-27CC-7043-44A5-9E9EF362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003145-05EA-87FA-54D7-1FB826C5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1794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AEDB2-70C4-9A63-C239-3CF630DF5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A3BC03-5F9B-893E-275A-78C0F07D5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D042B9-09E4-5C36-38BA-D83C5A2B2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7392C9-1866-5CAF-5049-D0C0F48FA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FBC23F-8F6C-68BE-0618-A3830F0B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5B427A-55CC-E5F6-5CFE-CF7C33BC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3370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12661-ACF7-CC2A-6CF7-F4B770D2B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1A1F11C-767E-F474-0023-994E65AF2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596202-1B29-C5F9-AC03-F93380090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882E9D-8043-6E8B-BABF-CA59DF21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15D035-4BF2-C5BF-6122-5995EB7B8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5CB838-83A9-2786-CECA-1689CFC5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45930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FC26BB-852F-515D-7EEA-851A3ECC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13EB880-2A92-83F5-5C00-169CF42ED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B1CC26-99BC-3C5A-4840-EF826E46C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7349F0-6654-A662-3CFF-56CBABBD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4BBAAF-F5DD-DAC7-8BE0-9EAB364A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156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80309E0-3ED4-2A5A-AA32-A0C08B1099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653F66-2F9B-1F6D-68FF-FE09DF2DF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1E6EA8-FB57-4826-C2CB-D5CF8EDD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531115-3DEF-03A4-4646-5F160845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B97413-31B3-E3F2-9DBF-44BBCEA2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757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2D1726-F245-5EF7-C04B-96A371DCB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659D50-6BE4-8783-CEDE-92EC08433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1815F5-73D2-52DF-6DF7-BC99193C7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C837F-2FC2-4506-A81C-61814BF5B4BC}" type="datetimeFigureOut">
              <a:rPr lang="de-AT" smtClean="0"/>
              <a:t>02.02.2026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236632-2D4B-65C1-EABA-DBB53EEF7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768FE5-4D26-D9F8-F28E-2443E6377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6247D-7EA7-49F2-B943-A9BA83EB8BF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4729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DEAEE08D-A745-4391-9073-9E99767E0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4539" y="266074"/>
            <a:ext cx="7489662" cy="625218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26" name="Picture 2" descr="Joomla-Plug-In – Installation und Einrichtung – Startseite">
            <a:extLst>
              <a:ext uri="{FF2B5EF4-FFF2-40B4-BE49-F238E27FC236}">
                <a16:creationId xmlns:a16="http://schemas.microsoft.com/office/drawing/2014/main" id="{2800AF4D-5547-AE0A-1FEB-D64360878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" r="-1" b="-1"/>
          <a:stretch>
            <a:fillRect/>
          </a:stretch>
        </p:blipFill>
        <p:spPr bwMode="auto">
          <a:xfrm>
            <a:off x="2659414" y="339746"/>
            <a:ext cx="7203799" cy="6030364"/>
          </a:xfrm>
          <a:custGeom>
            <a:avLst/>
            <a:gdLst/>
            <a:ahLst/>
            <a:cxnLst/>
            <a:rect l="l" t="t" r="r" b="b"/>
            <a:pathLst>
              <a:path w="7203799" h="6030364">
                <a:moveTo>
                  <a:pt x="4122552" y="0"/>
                </a:moveTo>
                <a:cubicBezTo>
                  <a:pt x="4596210" y="0"/>
                  <a:pt x="5032147" y="81110"/>
                  <a:pt x="5418463" y="240852"/>
                </a:cubicBezTo>
                <a:cubicBezTo>
                  <a:pt x="5780509" y="390677"/>
                  <a:pt x="6098496" y="609358"/>
                  <a:pt x="6363612" y="890695"/>
                </a:cubicBezTo>
                <a:cubicBezTo>
                  <a:pt x="6905445" y="1465899"/>
                  <a:pt x="7203799" y="2283333"/>
                  <a:pt x="7203799" y="3192481"/>
                </a:cubicBezTo>
                <a:cubicBezTo>
                  <a:pt x="7203799" y="3555204"/>
                  <a:pt x="7088321" y="3846319"/>
                  <a:pt x="6829541" y="4136467"/>
                </a:cubicBezTo>
                <a:cubicBezTo>
                  <a:pt x="6558859" y="4439977"/>
                  <a:pt x="6152137" y="4719524"/>
                  <a:pt x="5721456" y="5015457"/>
                </a:cubicBezTo>
                <a:cubicBezTo>
                  <a:pt x="5641997" y="5069990"/>
                  <a:pt x="5559911" y="5126451"/>
                  <a:pt x="5477826" y="5183599"/>
                </a:cubicBezTo>
                <a:cubicBezTo>
                  <a:pt x="4743068" y="5695047"/>
                  <a:pt x="4206802" y="6030364"/>
                  <a:pt x="3475911" y="6030364"/>
                </a:cubicBezTo>
                <a:cubicBezTo>
                  <a:pt x="2362258" y="6030364"/>
                  <a:pt x="1573553" y="5618755"/>
                  <a:pt x="838794" y="4653974"/>
                </a:cubicBezTo>
                <a:cubicBezTo>
                  <a:pt x="742642" y="4527696"/>
                  <a:pt x="648651" y="4412849"/>
                  <a:pt x="557754" y="4301854"/>
                </a:cubicBezTo>
                <a:cubicBezTo>
                  <a:pt x="181022" y="3841635"/>
                  <a:pt x="0" y="3602300"/>
                  <a:pt x="0" y="3192481"/>
                </a:cubicBezTo>
                <a:cubicBezTo>
                  <a:pt x="0" y="2785556"/>
                  <a:pt x="113467" y="2383585"/>
                  <a:pt x="337003" y="1997729"/>
                </a:cubicBezTo>
                <a:cubicBezTo>
                  <a:pt x="555745" y="1620270"/>
                  <a:pt x="868475" y="1274763"/>
                  <a:pt x="1266386" y="971116"/>
                </a:cubicBezTo>
                <a:cubicBezTo>
                  <a:pt x="1657494" y="672565"/>
                  <a:pt x="2122028" y="426344"/>
                  <a:pt x="2610064" y="259166"/>
                </a:cubicBezTo>
                <a:cubicBezTo>
                  <a:pt x="3111238" y="87171"/>
                  <a:pt x="3620296" y="0"/>
                  <a:pt x="412255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7E862DF0-097D-4BBD-A1A1-35B522C5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59414" y="339746"/>
            <a:ext cx="7203799" cy="6030364"/>
          </a:xfrm>
          <a:custGeom>
            <a:avLst/>
            <a:gdLst>
              <a:gd name="connsiteX0" fmla="*/ 4090459 w 7203799"/>
              <a:gd name="connsiteY0" fmla="*/ 146611 h 6030364"/>
              <a:gd name="connsiteX1" fmla="*/ 2634463 w 7203799"/>
              <a:gd name="connsiteY1" fmla="*/ 392518 h 6030364"/>
              <a:gd name="connsiteX2" fmla="*/ 1340972 w 7203799"/>
              <a:gd name="connsiteY2" fmla="*/ 1068045 h 6030364"/>
              <a:gd name="connsiteX3" fmla="*/ 446301 w 7203799"/>
              <a:gd name="connsiteY3" fmla="*/ 2042135 h 6030364"/>
              <a:gd name="connsiteX4" fmla="*/ 121886 w 7203799"/>
              <a:gd name="connsiteY4" fmla="*/ 3175764 h 6030364"/>
              <a:gd name="connsiteX5" fmla="*/ 658808 w 7203799"/>
              <a:gd name="connsiteY5" fmla="*/ 4228382 h 6030364"/>
              <a:gd name="connsiteX6" fmla="*/ 929352 w 7203799"/>
              <a:gd name="connsiteY6" fmla="*/ 4562487 h 6030364"/>
              <a:gd name="connsiteX7" fmla="*/ 3467971 w 7203799"/>
              <a:gd name="connsiteY7" fmla="*/ 5868460 h 6030364"/>
              <a:gd name="connsiteX8" fmla="*/ 5395115 w 7203799"/>
              <a:gd name="connsiteY8" fmla="*/ 5065016 h 6030364"/>
              <a:gd name="connsiteX9" fmla="*/ 5629645 w 7203799"/>
              <a:gd name="connsiteY9" fmla="*/ 4905476 h 6030364"/>
              <a:gd name="connsiteX10" fmla="*/ 6696345 w 7203799"/>
              <a:gd name="connsiteY10" fmla="*/ 4071455 h 6030364"/>
              <a:gd name="connsiteX11" fmla="*/ 7056622 w 7203799"/>
              <a:gd name="connsiteY11" fmla="*/ 3175764 h 6030364"/>
              <a:gd name="connsiteX12" fmla="*/ 6247816 w 7203799"/>
              <a:gd name="connsiteY12" fmla="*/ 991737 h 6030364"/>
              <a:gd name="connsiteX13" fmla="*/ 5337969 w 7203799"/>
              <a:gd name="connsiteY13" fmla="*/ 375142 h 6030364"/>
              <a:gd name="connsiteX14" fmla="*/ 4090459 w 7203799"/>
              <a:gd name="connsiteY14" fmla="*/ 146611 h 6030364"/>
              <a:gd name="connsiteX15" fmla="*/ 4122552 w 7203799"/>
              <a:gd name="connsiteY15" fmla="*/ 0 h 6030364"/>
              <a:gd name="connsiteX16" fmla="*/ 5418463 w 7203799"/>
              <a:gd name="connsiteY16" fmla="*/ 240852 h 6030364"/>
              <a:gd name="connsiteX17" fmla="*/ 6363612 w 7203799"/>
              <a:gd name="connsiteY17" fmla="*/ 890695 h 6030364"/>
              <a:gd name="connsiteX18" fmla="*/ 7203799 w 7203799"/>
              <a:gd name="connsiteY18" fmla="*/ 3192481 h 6030364"/>
              <a:gd name="connsiteX19" fmla="*/ 6829541 w 7203799"/>
              <a:gd name="connsiteY19" fmla="*/ 4136467 h 6030364"/>
              <a:gd name="connsiteX20" fmla="*/ 5721456 w 7203799"/>
              <a:gd name="connsiteY20" fmla="*/ 5015457 h 6030364"/>
              <a:gd name="connsiteX21" fmla="*/ 5477826 w 7203799"/>
              <a:gd name="connsiteY21" fmla="*/ 5183599 h 6030364"/>
              <a:gd name="connsiteX22" fmla="*/ 3475911 w 7203799"/>
              <a:gd name="connsiteY22" fmla="*/ 6030364 h 6030364"/>
              <a:gd name="connsiteX23" fmla="*/ 838794 w 7203799"/>
              <a:gd name="connsiteY23" fmla="*/ 4653974 h 6030364"/>
              <a:gd name="connsiteX24" fmla="*/ 557754 w 7203799"/>
              <a:gd name="connsiteY24" fmla="*/ 4301854 h 6030364"/>
              <a:gd name="connsiteX25" fmla="*/ 0 w 7203799"/>
              <a:gd name="connsiteY25" fmla="*/ 3192481 h 6030364"/>
              <a:gd name="connsiteX26" fmla="*/ 337002 w 7203799"/>
              <a:gd name="connsiteY26" fmla="*/ 1997729 h 6030364"/>
              <a:gd name="connsiteX27" fmla="*/ 1266386 w 7203799"/>
              <a:gd name="connsiteY27" fmla="*/ 971116 h 6030364"/>
              <a:gd name="connsiteX28" fmla="*/ 2610064 w 7203799"/>
              <a:gd name="connsiteY28" fmla="*/ 259166 h 6030364"/>
              <a:gd name="connsiteX29" fmla="*/ 4122552 w 7203799"/>
              <a:gd name="connsiteY29" fmla="*/ 0 h 603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203799" h="6030364">
                <a:moveTo>
                  <a:pt x="4090459" y="146611"/>
                </a:moveTo>
                <a:cubicBezTo>
                  <a:pt x="3606963" y="146611"/>
                  <a:pt x="3116919" y="229322"/>
                  <a:pt x="2634463" y="392518"/>
                </a:cubicBezTo>
                <a:cubicBezTo>
                  <a:pt x="2164657" y="551144"/>
                  <a:pt x="1717473" y="784767"/>
                  <a:pt x="1340972" y="1068045"/>
                </a:cubicBezTo>
                <a:cubicBezTo>
                  <a:pt x="957924" y="1356158"/>
                  <a:pt x="656874" y="1683987"/>
                  <a:pt x="446301" y="2042135"/>
                </a:cubicBezTo>
                <a:cubicBezTo>
                  <a:pt x="231114" y="2408251"/>
                  <a:pt x="121886" y="2789658"/>
                  <a:pt x="121886" y="3175764"/>
                </a:cubicBezTo>
                <a:cubicBezTo>
                  <a:pt x="121886" y="3564616"/>
                  <a:pt x="296147" y="3791707"/>
                  <a:pt x="658808" y="4228382"/>
                </a:cubicBezTo>
                <a:cubicBezTo>
                  <a:pt x="746310" y="4333697"/>
                  <a:pt x="836791" y="4442668"/>
                  <a:pt x="929352" y="4562487"/>
                </a:cubicBezTo>
                <a:cubicBezTo>
                  <a:pt x="1636666" y="5477909"/>
                  <a:pt x="2395913" y="5868460"/>
                  <a:pt x="3467971" y="5868460"/>
                </a:cubicBezTo>
                <a:cubicBezTo>
                  <a:pt x="4171563" y="5868460"/>
                  <a:pt x="4687799" y="5550298"/>
                  <a:pt x="5395115" y="5065016"/>
                </a:cubicBezTo>
                <a:cubicBezTo>
                  <a:pt x="5474133" y="5010792"/>
                  <a:pt x="5553154" y="4957219"/>
                  <a:pt x="5629645" y="4905476"/>
                </a:cubicBezTo>
                <a:cubicBezTo>
                  <a:pt x="6044240" y="4624684"/>
                  <a:pt x="6435769" y="4359438"/>
                  <a:pt x="6696345" y="4071455"/>
                </a:cubicBezTo>
                <a:cubicBezTo>
                  <a:pt x="6945459" y="3796151"/>
                  <a:pt x="7056622" y="3519931"/>
                  <a:pt x="7056622" y="3175764"/>
                </a:cubicBezTo>
                <a:cubicBezTo>
                  <a:pt x="7056622" y="2313128"/>
                  <a:pt x="6769413" y="1537514"/>
                  <a:pt x="6247816" y="991737"/>
                </a:cubicBezTo>
                <a:cubicBezTo>
                  <a:pt x="5992603" y="724794"/>
                  <a:pt x="5686492" y="517301"/>
                  <a:pt x="5337969" y="375142"/>
                </a:cubicBezTo>
                <a:cubicBezTo>
                  <a:pt x="4966082" y="223571"/>
                  <a:pt x="4546427" y="146611"/>
                  <a:pt x="4090459" y="146611"/>
                </a:cubicBezTo>
                <a:close/>
                <a:moveTo>
                  <a:pt x="4122552" y="0"/>
                </a:moveTo>
                <a:cubicBezTo>
                  <a:pt x="4596209" y="0"/>
                  <a:pt x="5032147" y="81110"/>
                  <a:pt x="5418463" y="240852"/>
                </a:cubicBezTo>
                <a:cubicBezTo>
                  <a:pt x="5780509" y="390677"/>
                  <a:pt x="6098496" y="609358"/>
                  <a:pt x="6363612" y="890695"/>
                </a:cubicBezTo>
                <a:cubicBezTo>
                  <a:pt x="6905445" y="1465899"/>
                  <a:pt x="7203799" y="2283333"/>
                  <a:pt x="7203799" y="3192481"/>
                </a:cubicBezTo>
                <a:cubicBezTo>
                  <a:pt x="7203799" y="3555204"/>
                  <a:pt x="7088321" y="3846319"/>
                  <a:pt x="6829541" y="4136467"/>
                </a:cubicBezTo>
                <a:cubicBezTo>
                  <a:pt x="6558859" y="4439977"/>
                  <a:pt x="6152137" y="4719524"/>
                  <a:pt x="5721456" y="5015457"/>
                </a:cubicBezTo>
                <a:cubicBezTo>
                  <a:pt x="5641997" y="5069990"/>
                  <a:pt x="5559911" y="5126451"/>
                  <a:pt x="5477826" y="5183599"/>
                </a:cubicBezTo>
                <a:cubicBezTo>
                  <a:pt x="4743067" y="5695047"/>
                  <a:pt x="4206801" y="6030364"/>
                  <a:pt x="3475911" y="6030364"/>
                </a:cubicBezTo>
                <a:cubicBezTo>
                  <a:pt x="2362258" y="6030364"/>
                  <a:pt x="1573553" y="5618755"/>
                  <a:pt x="838794" y="4653974"/>
                </a:cubicBezTo>
                <a:cubicBezTo>
                  <a:pt x="742641" y="4527696"/>
                  <a:pt x="648651" y="4412849"/>
                  <a:pt x="557754" y="4301854"/>
                </a:cubicBezTo>
                <a:cubicBezTo>
                  <a:pt x="181022" y="3841635"/>
                  <a:pt x="0" y="3602300"/>
                  <a:pt x="0" y="3192481"/>
                </a:cubicBezTo>
                <a:cubicBezTo>
                  <a:pt x="0" y="2785556"/>
                  <a:pt x="113467" y="2383584"/>
                  <a:pt x="337002" y="1997729"/>
                </a:cubicBezTo>
                <a:cubicBezTo>
                  <a:pt x="555744" y="1620270"/>
                  <a:pt x="868475" y="1274763"/>
                  <a:pt x="1266386" y="971116"/>
                </a:cubicBezTo>
                <a:cubicBezTo>
                  <a:pt x="1657494" y="672565"/>
                  <a:pt x="2122028" y="426344"/>
                  <a:pt x="2610064" y="259166"/>
                </a:cubicBezTo>
                <a:cubicBezTo>
                  <a:pt x="3111237" y="87171"/>
                  <a:pt x="3620296" y="0"/>
                  <a:pt x="412255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435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00D334D-D5A0-E579-DD3C-8AA2EB5FB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de-DE" sz="4800"/>
              <a:t>Was ist Joomla?</a:t>
            </a:r>
            <a:endParaRPr lang="de-AT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D11ABC-D411-3EFE-3E83-CE4044612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5376357" cy="3639450"/>
          </a:xfrm>
        </p:spPr>
        <p:txBody>
          <a:bodyPr anchor="ctr">
            <a:normAutofit/>
          </a:bodyPr>
          <a:lstStyle/>
          <a:p>
            <a:r>
              <a:rPr lang="de-DE" sz="2400" dirty="0"/>
              <a:t>Web-CMS zur Erstellung von Websites</a:t>
            </a:r>
          </a:p>
          <a:p>
            <a:r>
              <a:rPr lang="de-DE" sz="2400" dirty="0"/>
              <a:t>Open Source</a:t>
            </a:r>
          </a:p>
          <a:p>
            <a:r>
              <a:rPr lang="de-DE" sz="2400" dirty="0"/>
              <a:t>Kostenlos</a:t>
            </a:r>
            <a:endParaRPr lang="de-AT" sz="2400" dirty="0"/>
          </a:p>
        </p:txBody>
      </p:sp>
      <p:pic>
        <p:nvPicPr>
          <p:cNvPr id="4" name="Picture 2" descr="Joomla-Plug-In – Installation und Einrichtung – Startseite">
            <a:extLst>
              <a:ext uri="{FF2B5EF4-FFF2-40B4-BE49-F238E27FC236}">
                <a16:creationId xmlns:a16="http://schemas.microsoft.com/office/drawing/2014/main" id="{8D64E99E-CC60-F4E2-F4A0-56968176C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8124" y="2484255"/>
            <a:ext cx="4457092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22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E161EE-BE16-ACEE-4861-58D44FEC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de-DE" sz="4800" dirty="0"/>
              <a:t>Allgemeines zu Joomla</a:t>
            </a:r>
            <a:endParaRPr lang="de-AT" sz="4800" dirty="0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AC9354-1B2F-B863-7584-F5AFBC77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5302339" cy="3639450"/>
          </a:xfrm>
        </p:spPr>
        <p:txBody>
          <a:bodyPr anchor="ctr">
            <a:normAutofit/>
          </a:bodyPr>
          <a:lstStyle/>
          <a:p>
            <a:r>
              <a:rPr lang="de-DE" sz="2000" dirty="0"/>
              <a:t>Erscheinungsjahr: 17.  August 2005</a:t>
            </a:r>
          </a:p>
          <a:p>
            <a:r>
              <a:rPr lang="de-DE" sz="2000" dirty="0"/>
              <a:t>Wird bis heute noch </a:t>
            </a:r>
            <a:r>
              <a:rPr lang="de-DE" sz="2000" dirty="0" err="1"/>
              <a:t>geupdated</a:t>
            </a:r>
            <a:endParaRPr lang="de-DE" sz="2000" dirty="0"/>
          </a:p>
          <a:p>
            <a:r>
              <a:rPr lang="de-DE" sz="2000" dirty="0"/>
              <a:t>Programmiersprachen: PHP, </a:t>
            </a:r>
            <a:r>
              <a:rPr lang="de-DE" sz="2000" dirty="0" err="1"/>
              <a:t>Javascript</a:t>
            </a:r>
            <a:endParaRPr lang="de-DE" sz="2000" dirty="0"/>
          </a:p>
          <a:p>
            <a:r>
              <a:rPr lang="de-DE" sz="2000" dirty="0"/>
              <a:t>Speichert in MySQL, </a:t>
            </a:r>
            <a:r>
              <a:rPr lang="de-DE" sz="2000" dirty="0" err="1"/>
              <a:t>MariaDB</a:t>
            </a:r>
            <a:r>
              <a:rPr lang="de-DE" sz="2000" dirty="0"/>
              <a:t>, PostgreSQL</a:t>
            </a:r>
            <a:endParaRPr lang="de-AT" sz="2000" dirty="0"/>
          </a:p>
        </p:txBody>
      </p:sp>
      <p:pic>
        <p:nvPicPr>
          <p:cNvPr id="2052" name="Picture 4" descr="Joomla CMS | Wechsler Websolutions">
            <a:extLst>
              <a:ext uri="{FF2B5EF4-FFF2-40B4-BE49-F238E27FC236}">
                <a16:creationId xmlns:a16="http://schemas.microsoft.com/office/drawing/2014/main" id="{394B03A2-0553-84FE-ABE2-35DD0EC7F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5" r="7653" b="2"/>
          <a:stretch>
            <a:fillRect/>
          </a:stretch>
        </p:blipFill>
        <p:spPr bwMode="auto">
          <a:xfrm>
            <a:off x="5911532" y="2484255"/>
            <a:ext cx="5150277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2" name="Rectangle 207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1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3508E3-94CC-7A46-18D9-2134D865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>
            <a:normAutofit/>
          </a:bodyPr>
          <a:lstStyle/>
          <a:p>
            <a:pPr algn="ctr"/>
            <a:r>
              <a:rPr lang="de-DE" sz="3600" dirty="0">
                <a:solidFill>
                  <a:srgbClr val="3F3F3F"/>
                </a:solidFill>
              </a:rPr>
              <a:t>Vor- und Nachteile</a:t>
            </a:r>
            <a:endParaRPr lang="de-AT" sz="3600" dirty="0">
              <a:solidFill>
                <a:srgbClr val="3F3F3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BF74AC-6DA2-961C-2883-29C859EC5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6915" y="2888250"/>
            <a:ext cx="4297351" cy="295977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de-DE" sz="2000" dirty="0"/>
              <a:t>Vorteile</a:t>
            </a:r>
          </a:p>
          <a:p>
            <a:r>
              <a:rPr lang="de-DE" sz="2000" dirty="0"/>
              <a:t>Flexibel &amp; erweiterbar</a:t>
            </a:r>
          </a:p>
          <a:p>
            <a:r>
              <a:rPr lang="de-DE" sz="2000" dirty="0"/>
              <a:t>Große Community</a:t>
            </a:r>
          </a:p>
          <a:p>
            <a:r>
              <a:rPr lang="de-AT" sz="2000" dirty="0"/>
              <a:t>Schon seit 2005 dabei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614140-FFB8-9731-1AAA-3D06D7A8F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7731" y="2888250"/>
            <a:ext cx="4292594" cy="295977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de-DE" sz="2000" dirty="0"/>
              <a:t>Nachteile</a:t>
            </a:r>
          </a:p>
          <a:p>
            <a:r>
              <a:rPr lang="de-AT" sz="2000" dirty="0"/>
              <a:t>Komplexer</a:t>
            </a:r>
          </a:p>
          <a:p>
            <a:r>
              <a:rPr lang="de-AT" sz="2000" dirty="0"/>
              <a:t>Weniger </a:t>
            </a:r>
            <a:r>
              <a:rPr lang="de-AT" sz="2000" dirty="0" err="1"/>
              <a:t>Themes</a:t>
            </a:r>
            <a:r>
              <a:rPr lang="de-AT" sz="2000" dirty="0"/>
              <a:t>/Plugins</a:t>
            </a:r>
          </a:p>
          <a:p>
            <a:r>
              <a:rPr lang="de-AT" sz="2000" dirty="0"/>
              <a:t>Höhere Einarbeitungszeit</a:t>
            </a:r>
          </a:p>
          <a:p>
            <a:r>
              <a:rPr lang="de-AT" sz="2000" dirty="0"/>
              <a:t>Bessere </a:t>
            </a:r>
            <a:r>
              <a:rPr lang="de-AT" sz="2000" dirty="0" err="1"/>
              <a:t>Konkurenz</a:t>
            </a:r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4152304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8290AE-D0A0-0D3D-7668-26C81E06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de-DE" sz="4800" dirty="0"/>
              <a:t>Einsatzbereiche von Joomla</a:t>
            </a:r>
            <a:endParaRPr lang="de-AT" sz="4800" dirty="0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3CD67F-31BD-0A6D-21CA-172EDEBFC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de-DE" sz="2400" dirty="0"/>
              <a:t>Halbgroße Firmenwebsites (jedoch immer weniger)</a:t>
            </a:r>
          </a:p>
          <a:p>
            <a:r>
              <a:rPr lang="de-DE" sz="2400" dirty="0"/>
              <a:t>Portale &amp; Communities</a:t>
            </a:r>
          </a:p>
          <a:p>
            <a:r>
              <a:rPr lang="de-DE" sz="2400" dirty="0"/>
              <a:t>Vereins- &amp; Schulwebsites</a:t>
            </a:r>
            <a:br>
              <a:rPr lang="de-DE" sz="2000" dirty="0"/>
            </a:br>
            <a:endParaRPr lang="de-AT" sz="2000" dirty="0"/>
          </a:p>
        </p:txBody>
      </p:sp>
      <p:pic>
        <p:nvPicPr>
          <p:cNvPr id="4098" name="Picture 2" descr="Joomla Installieren - BlueStoneDesign">
            <a:extLst>
              <a:ext uri="{FF2B5EF4-FFF2-40B4-BE49-F238E27FC236}">
                <a16:creationId xmlns:a16="http://schemas.microsoft.com/office/drawing/2014/main" id="{BFB48BE3-2530-60BD-B605-FC5C43C5F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209531"/>
            <a:ext cx="5150277" cy="2263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Rectangle 410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67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81A2-B12C-E51B-007A-96331D799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oomla-Plug-In – Installation und Einrichtung – Startseite">
            <a:extLst>
              <a:ext uri="{FF2B5EF4-FFF2-40B4-BE49-F238E27FC236}">
                <a16:creationId xmlns:a16="http://schemas.microsoft.com/office/drawing/2014/main" id="{83C2B369-6B31-81DA-53EB-721343917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" r="-1" b="-1"/>
          <a:stretch>
            <a:fillRect/>
          </a:stretch>
        </p:blipFill>
        <p:spPr bwMode="auto">
          <a:xfrm>
            <a:off x="2659414" y="339746"/>
            <a:ext cx="7203799" cy="6030364"/>
          </a:xfrm>
          <a:custGeom>
            <a:avLst/>
            <a:gdLst/>
            <a:ahLst/>
            <a:cxnLst/>
            <a:rect l="l" t="t" r="r" b="b"/>
            <a:pathLst>
              <a:path w="7203799" h="6030364">
                <a:moveTo>
                  <a:pt x="4122552" y="0"/>
                </a:moveTo>
                <a:cubicBezTo>
                  <a:pt x="4596210" y="0"/>
                  <a:pt x="5032147" y="81110"/>
                  <a:pt x="5418463" y="240852"/>
                </a:cubicBezTo>
                <a:cubicBezTo>
                  <a:pt x="5780509" y="390677"/>
                  <a:pt x="6098496" y="609358"/>
                  <a:pt x="6363612" y="890695"/>
                </a:cubicBezTo>
                <a:cubicBezTo>
                  <a:pt x="6905445" y="1465899"/>
                  <a:pt x="7203799" y="2283333"/>
                  <a:pt x="7203799" y="3192481"/>
                </a:cubicBezTo>
                <a:cubicBezTo>
                  <a:pt x="7203799" y="3555204"/>
                  <a:pt x="7088321" y="3846319"/>
                  <a:pt x="6829541" y="4136467"/>
                </a:cubicBezTo>
                <a:cubicBezTo>
                  <a:pt x="6558859" y="4439977"/>
                  <a:pt x="6152137" y="4719524"/>
                  <a:pt x="5721456" y="5015457"/>
                </a:cubicBezTo>
                <a:cubicBezTo>
                  <a:pt x="5641997" y="5069990"/>
                  <a:pt x="5559911" y="5126451"/>
                  <a:pt x="5477826" y="5183599"/>
                </a:cubicBezTo>
                <a:cubicBezTo>
                  <a:pt x="4743068" y="5695047"/>
                  <a:pt x="4206802" y="6030364"/>
                  <a:pt x="3475911" y="6030364"/>
                </a:cubicBezTo>
                <a:cubicBezTo>
                  <a:pt x="2362258" y="6030364"/>
                  <a:pt x="1573553" y="5618755"/>
                  <a:pt x="838794" y="4653974"/>
                </a:cubicBezTo>
                <a:cubicBezTo>
                  <a:pt x="742642" y="4527696"/>
                  <a:pt x="648651" y="4412849"/>
                  <a:pt x="557754" y="4301854"/>
                </a:cubicBezTo>
                <a:cubicBezTo>
                  <a:pt x="181022" y="3841635"/>
                  <a:pt x="0" y="3602300"/>
                  <a:pt x="0" y="3192481"/>
                </a:cubicBezTo>
                <a:cubicBezTo>
                  <a:pt x="0" y="2785556"/>
                  <a:pt x="113467" y="2383585"/>
                  <a:pt x="337003" y="1997729"/>
                </a:cubicBezTo>
                <a:cubicBezTo>
                  <a:pt x="555745" y="1620270"/>
                  <a:pt x="868475" y="1274763"/>
                  <a:pt x="1266386" y="971116"/>
                </a:cubicBezTo>
                <a:cubicBezTo>
                  <a:pt x="1657494" y="672565"/>
                  <a:pt x="2122028" y="426344"/>
                  <a:pt x="2610064" y="259166"/>
                </a:cubicBezTo>
                <a:cubicBezTo>
                  <a:pt x="3111238" y="87171"/>
                  <a:pt x="3620296" y="0"/>
                  <a:pt x="412255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0338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Breitbild</PresentationFormat>
  <Paragraphs>23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Meiryo</vt:lpstr>
      <vt:lpstr>Aptos</vt:lpstr>
      <vt:lpstr>Aptos Display</vt:lpstr>
      <vt:lpstr>Arial</vt:lpstr>
      <vt:lpstr>Calibri</vt:lpstr>
      <vt:lpstr>Office</vt:lpstr>
      <vt:lpstr>PowerPoint-Präsentation</vt:lpstr>
      <vt:lpstr>Was ist Joomla?</vt:lpstr>
      <vt:lpstr>Allgemeines zu Joomla</vt:lpstr>
      <vt:lpstr>Vor- und Nachteile</vt:lpstr>
      <vt:lpstr>Einsatzbereiche von Joomla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Galateanu David-Andreas</dc:creator>
  <cp:lastModifiedBy>Galateanu David-Andreas</cp:lastModifiedBy>
  <cp:revision>1</cp:revision>
  <dcterms:created xsi:type="dcterms:W3CDTF">2026-02-02T07:30:03Z</dcterms:created>
  <dcterms:modified xsi:type="dcterms:W3CDTF">2026-02-02T08:11:00Z</dcterms:modified>
</cp:coreProperties>
</file>